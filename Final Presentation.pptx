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0D9D9C-8E55-44F1-BAA7-896C43AE16A9}" type="doc">
      <dgm:prSet loTypeId="urn:microsoft.com/office/officeart/2009/3/layout/PieProcess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ADDEF84-465A-469B-AE12-CF1AF660680F}">
      <dgm:prSet phldrT="[Text]"/>
      <dgm:spPr/>
      <dgm:t>
        <a:bodyPr/>
        <a:lstStyle/>
        <a:p>
          <a:r>
            <a:rPr lang="en-US" b="1" dirty="0" smtClean="0"/>
            <a:t>Checking Missing Values</a:t>
          </a:r>
          <a:endParaRPr lang="en-US" b="1" dirty="0"/>
        </a:p>
      </dgm:t>
    </dgm:pt>
    <dgm:pt modelId="{8A39121B-119C-4022-AD2B-E8E4A7AF6027}" type="parTrans" cxnId="{131DEB93-161B-4087-8C72-352F1BA17847}">
      <dgm:prSet/>
      <dgm:spPr/>
      <dgm:t>
        <a:bodyPr/>
        <a:lstStyle/>
        <a:p>
          <a:endParaRPr lang="en-US"/>
        </a:p>
      </dgm:t>
    </dgm:pt>
    <dgm:pt modelId="{FA694258-AEFB-4B23-B22F-AA02019ACF77}" type="sibTrans" cxnId="{131DEB93-161B-4087-8C72-352F1BA17847}">
      <dgm:prSet/>
      <dgm:spPr/>
      <dgm:t>
        <a:bodyPr/>
        <a:lstStyle/>
        <a:p>
          <a:endParaRPr lang="en-US"/>
        </a:p>
      </dgm:t>
    </dgm:pt>
    <dgm:pt modelId="{DD3983B2-CCE0-4C40-B5B5-557650AF362A}">
      <dgm:prSet phldrT="[Text]" custT="1"/>
      <dgm:spPr/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No Missing Values in the Games Dataset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C59F8BF-A15C-43FD-B6C0-25F669DA6670}" type="parTrans" cxnId="{0EF4AC2C-D222-438C-98F5-C7F9A114E75C}">
      <dgm:prSet/>
      <dgm:spPr/>
      <dgm:t>
        <a:bodyPr/>
        <a:lstStyle/>
        <a:p>
          <a:endParaRPr lang="en-US"/>
        </a:p>
      </dgm:t>
    </dgm:pt>
    <dgm:pt modelId="{B6948A14-ED62-4587-AC2E-69D0808E0D01}" type="sibTrans" cxnId="{0EF4AC2C-D222-438C-98F5-C7F9A114E75C}">
      <dgm:prSet/>
      <dgm:spPr/>
      <dgm:t>
        <a:bodyPr/>
        <a:lstStyle/>
        <a:p>
          <a:endParaRPr lang="en-US"/>
        </a:p>
      </dgm:t>
    </dgm:pt>
    <dgm:pt modelId="{E4B776F7-E6CF-4D44-B6A7-634EE60D5BF0}">
      <dgm:prSet phldrT="[Text]"/>
      <dgm:spPr/>
      <dgm:t>
        <a:bodyPr/>
        <a:lstStyle/>
        <a:p>
          <a:r>
            <a:rPr lang="en-US" b="1" dirty="0" smtClean="0"/>
            <a:t>Checking Duplicates </a:t>
          </a:r>
          <a:endParaRPr lang="en-US" b="1" dirty="0"/>
        </a:p>
      </dgm:t>
    </dgm:pt>
    <dgm:pt modelId="{6E269B69-3A3E-403D-BA69-2D17944E6956}" type="parTrans" cxnId="{822EBFC9-8EC3-4664-807F-763F37206EB0}">
      <dgm:prSet/>
      <dgm:spPr/>
      <dgm:t>
        <a:bodyPr/>
        <a:lstStyle/>
        <a:p>
          <a:endParaRPr lang="en-US"/>
        </a:p>
      </dgm:t>
    </dgm:pt>
    <dgm:pt modelId="{E31D8CD8-F53D-4FF9-9A29-4B73817B6CAB}" type="sibTrans" cxnId="{822EBFC9-8EC3-4664-807F-763F37206EB0}">
      <dgm:prSet/>
      <dgm:spPr/>
      <dgm:t>
        <a:bodyPr/>
        <a:lstStyle/>
        <a:p>
          <a:endParaRPr lang="en-US"/>
        </a:p>
      </dgm:t>
    </dgm:pt>
    <dgm:pt modelId="{3FDEE9E7-42B9-42FD-8082-8FFF8CDAB00E}">
      <dgm:prSet phldrT="[Text]" custT="1"/>
      <dgm:spPr/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No Duplicates were found in the Games Dataset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BF1A505-7E75-468F-83A4-AC13F05C8D8B}" type="parTrans" cxnId="{2362E513-41BA-4899-8DBB-8352666BD710}">
      <dgm:prSet/>
      <dgm:spPr/>
      <dgm:t>
        <a:bodyPr/>
        <a:lstStyle/>
        <a:p>
          <a:endParaRPr lang="en-US"/>
        </a:p>
      </dgm:t>
    </dgm:pt>
    <dgm:pt modelId="{9DE3237A-9672-491C-8A03-9B54313667BF}" type="sibTrans" cxnId="{2362E513-41BA-4899-8DBB-8352666BD710}">
      <dgm:prSet/>
      <dgm:spPr/>
      <dgm:t>
        <a:bodyPr/>
        <a:lstStyle/>
        <a:p>
          <a:endParaRPr lang="en-US"/>
        </a:p>
      </dgm:t>
    </dgm:pt>
    <dgm:pt modelId="{0B837632-1894-4FCA-90F6-D137D7BCD00B}">
      <dgm:prSet phldrT="[Text]"/>
      <dgm:spPr/>
      <dgm:t>
        <a:bodyPr/>
        <a:lstStyle/>
        <a:p>
          <a:r>
            <a:rPr lang="en-US" b="1" dirty="0" smtClean="0"/>
            <a:t>Checking and Transforming Outliers</a:t>
          </a:r>
          <a:endParaRPr lang="en-US" b="1" dirty="0"/>
        </a:p>
      </dgm:t>
    </dgm:pt>
    <dgm:pt modelId="{20D10001-B8E7-4F89-863F-087F0FF6F470}" type="parTrans" cxnId="{C402C52E-7989-4903-843E-990C15691298}">
      <dgm:prSet/>
      <dgm:spPr/>
      <dgm:t>
        <a:bodyPr/>
        <a:lstStyle/>
        <a:p>
          <a:endParaRPr lang="en-US"/>
        </a:p>
      </dgm:t>
    </dgm:pt>
    <dgm:pt modelId="{7436620E-1753-407D-8FFA-57540BA6C617}" type="sibTrans" cxnId="{C402C52E-7989-4903-843E-990C15691298}">
      <dgm:prSet/>
      <dgm:spPr/>
      <dgm:t>
        <a:bodyPr/>
        <a:lstStyle/>
        <a:p>
          <a:endParaRPr lang="en-US"/>
        </a:p>
      </dgm:t>
    </dgm:pt>
    <dgm:pt modelId="{EDA5E44D-4390-4F2E-AAFF-015A725185FF}">
      <dgm:prSet phldrT="[Text]" custT="1"/>
      <dgm:spPr/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Multiple Outliers found in the Games Dataset.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3F99577-FE5B-4C54-A525-AB3E83E8A203}" type="parTrans" cxnId="{6DA5D5DA-1649-404F-B2B2-907950A7F47E}">
      <dgm:prSet/>
      <dgm:spPr/>
      <dgm:t>
        <a:bodyPr/>
        <a:lstStyle/>
        <a:p>
          <a:endParaRPr lang="en-US"/>
        </a:p>
      </dgm:t>
    </dgm:pt>
    <dgm:pt modelId="{B8C173C7-3B93-41FD-8533-8B32B8EBB834}" type="sibTrans" cxnId="{6DA5D5DA-1649-404F-B2B2-907950A7F47E}">
      <dgm:prSet/>
      <dgm:spPr/>
      <dgm:t>
        <a:bodyPr/>
        <a:lstStyle/>
        <a:p>
          <a:endParaRPr lang="en-US"/>
        </a:p>
      </dgm:t>
    </dgm:pt>
    <dgm:pt modelId="{4F87F431-1918-4E75-87CF-49CC509EC811}">
      <dgm:prSet phldrT="[Text]" custT="1"/>
      <dgm:spPr/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All Outliers were Right Skewed.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EB8ECB99-7355-4EB1-8368-6E5D8BF9F958}" type="parTrans" cxnId="{16857CA2-CCF6-4F31-9037-760E1469A80C}">
      <dgm:prSet/>
      <dgm:spPr/>
      <dgm:t>
        <a:bodyPr/>
        <a:lstStyle/>
        <a:p>
          <a:endParaRPr lang="en-US"/>
        </a:p>
      </dgm:t>
    </dgm:pt>
    <dgm:pt modelId="{854AD0E3-1876-408A-AFB9-BFB96C74F0FD}" type="sibTrans" cxnId="{16857CA2-CCF6-4F31-9037-760E1469A80C}">
      <dgm:prSet/>
      <dgm:spPr/>
      <dgm:t>
        <a:bodyPr/>
        <a:lstStyle/>
        <a:p>
          <a:endParaRPr lang="en-US"/>
        </a:p>
      </dgm:t>
    </dgm:pt>
    <dgm:pt modelId="{8747652F-4181-4A3D-8167-52FE7819723E}">
      <dgm:prSet phldrT="[Text]" custT="1"/>
      <dgm:spPr/>
      <dgm:t>
        <a:bodyPr/>
        <a:lstStyle/>
        <a:p>
          <a:pPr>
            <a:lnSpc>
              <a:spcPct val="150000"/>
            </a:lnSpc>
            <a:spcAft>
              <a:spcPts val="0"/>
            </a:spcAft>
          </a:pPr>
          <a:r>
            <a: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Instead of Deletion. Apply Log Transformation and Capping.</a:t>
          </a:r>
          <a:endParaRPr lang="en-US" sz="16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B64BAE-F49A-4B9D-9FCA-01F27AC8C9CB}" type="parTrans" cxnId="{8B2E0162-C2D5-4AA5-BC5D-705A3C87CB2E}">
      <dgm:prSet/>
      <dgm:spPr/>
      <dgm:t>
        <a:bodyPr/>
        <a:lstStyle/>
        <a:p>
          <a:endParaRPr lang="en-US"/>
        </a:p>
      </dgm:t>
    </dgm:pt>
    <dgm:pt modelId="{572F722B-5F29-4184-B660-068277EF4EB2}" type="sibTrans" cxnId="{8B2E0162-C2D5-4AA5-BC5D-705A3C87CB2E}">
      <dgm:prSet/>
      <dgm:spPr/>
      <dgm:t>
        <a:bodyPr/>
        <a:lstStyle/>
        <a:p>
          <a:endParaRPr lang="en-US"/>
        </a:p>
      </dgm:t>
    </dgm:pt>
    <dgm:pt modelId="{57ECA2FF-3C47-460F-BFF8-619EB498F40B}" type="pres">
      <dgm:prSet presAssocID="{6E0D9D9C-8E55-44F1-BAA7-896C43AE16A9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DEE2D638-0CC6-4C68-8664-2914F0C5F018}" type="pres">
      <dgm:prSet presAssocID="{EADDEF84-465A-469B-AE12-CF1AF660680F}" presName="ParentComposite" presStyleCnt="0"/>
      <dgm:spPr/>
    </dgm:pt>
    <dgm:pt modelId="{6EE121A7-30C2-4993-9520-69D196B0F348}" type="pres">
      <dgm:prSet presAssocID="{EADDEF84-465A-469B-AE12-CF1AF660680F}" presName="Chord" presStyleLbl="bgShp" presStyleIdx="0" presStyleCnt="3"/>
      <dgm:spPr/>
    </dgm:pt>
    <dgm:pt modelId="{D3C2DA39-90B5-4714-A521-BDE75D520EA7}" type="pres">
      <dgm:prSet presAssocID="{EADDEF84-465A-469B-AE12-CF1AF660680F}" presName="Pie" presStyleLbl="alignNode1" presStyleIdx="0" presStyleCnt="3"/>
      <dgm:spPr/>
    </dgm:pt>
    <dgm:pt modelId="{382450F0-2E25-4A86-B3A0-3FD2B8F1F567}" type="pres">
      <dgm:prSet presAssocID="{EADDEF84-465A-469B-AE12-CF1AF660680F}" presName="Parent" presStyleLbl="revTx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ED16B1-9EE9-4D5A-96B3-964FFBCF2E66}" type="pres">
      <dgm:prSet presAssocID="{B6948A14-ED62-4587-AC2E-69D0808E0D01}" presName="negSibTrans" presStyleCnt="0"/>
      <dgm:spPr/>
    </dgm:pt>
    <dgm:pt modelId="{74E90077-DF8F-4177-A692-B3BB1B862391}" type="pres">
      <dgm:prSet presAssocID="{EADDEF84-465A-469B-AE12-CF1AF660680F}" presName="composite" presStyleCnt="0"/>
      <dgm:spPr/>
    </dgm:pt>
    <dgm:pt modelId="{B7690194-DAEB-4E5B-AB7C-DB67A7ED3818}" type="pres">
      <dgm:prSet presAssocID="{EADDEF84-465A-469B-AE12-CF1AF660680F}" presName="Child" presStyleLbl="revTx" presStyleIdx="1" presStyleCnt="6" custScaleX="13678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269D29-7759-4F08-A13E-55DFCB4BACA1}" type="pres">
      <dgm:prSet presAssocID="{FA694258-AEFB-4B23-B22F-AA02019ACF77}" presName="sibTrans" presStyleCnt="0"/>
      <dgm:spPr/>
    </dgm:pt>
    <dgm:pt modelId="{3F672099-C353-4898-9A36-AB7C90D9AA17}" type="pres">
      <dgm:prSet presAssocID="{E4B776F7-E6CF-4D44-B6A7-634EE60D5BF0}" presName="ParentComposite" presStyleCnt="0"/>
      <dgm:spPr/>
    </dgm:pt>
    <dgm:pt modelId="{30EAA591-B7CD-4A8B-BD22-626870803BC0}" type="pres">
      <dgm:prSet presAssocID="{E4B776F7-E6CF-4D44-B6A7-634EE60D5BF0}" presName="Chord" presStyleLbl="bgShp" presStyleIdx="1" presStyleCnt="3" custLinFactNeighborX="-8657" custLinFactNeighborY="-1574"/>
      <dgm:spPr/>
    </dgm:pt>
    <dgm:pt modelId="{F568569A-B650-407A-BCB5-DE1BA238882C}" type="pres">
      <dgm:prSet presAssocID="{E4B776F7-E6CF-4D44-B6A7-634EE60D5BF0}" presName="Pie" presStyleLbl="alignNode1" presStyleIdx="1" presStyleCnt="3" custLinFactNeighborX="-59035"/>
      <dgm:spPr/>
    </dgm:pt>
    <dgm:pt modelId="{821D1612-9A0C-4470-8060-04AC6DFEA511}" type="pres">
      <dgm:prSet presAssocID="{E4B776F7-E6CF-4D44-B6A7-634EE60D5BF0}" presName="Parent" presStyleLbl="revTx" presStyleIdx="2" presStyleCnt="6" custLinFactNeighborX="-6953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F284C5-9B1A-4D32-8F09-8E29F7A16888}" type="pres">
      <dgm:prSet presAssocID="{9DE3237A-9672-491C-8A03-9B54313667BF}" presName="negSibTrans" presStyleCnt="0"/>
      <dgm:spPr/>
    </dgm:pt>
    <dgm:pt modelId="{AEEA4261-22EB-45F2-A132-773ED9E11623}" type="pres">
      <dgm:prSet presAssocID="{E4B776F7-E6CF-4D44-B6A7-634EE60D5BF0}" presName="composite" presStyleCnt="0"/>
      <dgm:spPr/>
    </dgm:pt>
    <dgm:pt modelId="{9E76B566-1070-40F7-95F6-38CFF576C21E}" type="pres">
      <dgm:prSet presAssocID="{E4B776F7-E6CF-4D44-B6A7-634EE60D5BF0}" presName="Child" presStyleLbl="revTx" presStyleIdx="3" presStyleCnt="6" custLinFactNeighborX="-2735" custLinFactNeighborY="118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D06ED8-E8A2-470E-A8FD-904E03969012}" type="pres">
      <dgm:prSet presAssocID="{E31D8CD8-F53D-4FF9-9A29-4B73817B6CAB}" presName="sibTrans" presStyleCnt="0"/>
      <dgm:spPr/>
    </dgm:pt>
    <dgm:pt modelId="{A3994565-7A0F-430B-9FEF-F7D6427747E9}" type="pres">
      <dgm:prSet presAssocID="{0B837632-1894-4FCA-90F6-D137D7BCD00B}" presName="ParentComposite" presStyleCnt="0"/>
      <dgm:spPr/>
    </dgm:pt>
    <dgm:pt modelId="{51A5445F-4E32-471F-849F-F50444087DA5}" type="pres">
      <dgm:prSet presAssocID="{0B837632-1894-4FCA-90F6-D137D7BCD00B}" presName="Chord" presStyleLbl="bgShp" presStyleIdx="2" presStyleCnt="3" custLinFactNeighborX="-7083"/>
      <dgm:spPr/>
    </dgm:pt>
    <dgm:pt modelId="{A93232D6-090A-4D2A-A6A6-76A003C87711}" type="pres">
      <dgm:prSet presAssocID="{0B837632-1894-4FCA-90F6-D137D7BCD00B}" presName="Pie" presStyleLbl="alignNode1" presStyleIdx="2" presStyleCnt="3" custLinFactNeighborX="-8887" custLinFactNeighborY="-4593"/>
      <dgm:spPr/>
    </dgm:pt>
    <dgm:pt modelId="{AD0AB4B1-9B1B-4DF2-A437-8F568DA3FCC8}" type="pres">
      <dgm:prSet presAssocID="{0B837632-1894-4FCA-90F6-D137D7BCD00B}" presName="Parent" presStyleLbl="revTx" presStyleIdx="4" presStyleCnt="6" custLinFactNeighborX="-4584" custLinFactNeighborY="-137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87D008-F0EA-4B61-8DA3-8235CFA589F5}" type="pres">
      <dgm:prSet presAssocID="{B8C173C7-3B93-41FD-8533-8B32B8EBB834}" presName="negSibTrans" presStyleCnt="0"/>
      <dgm:spPr/>
    </dgm:pt>
    <dgm:pt modelId="{E9ED8854-AB70-47FC-B715-6D94830D4252}" type="pres">
      <dgm:prSet presAssocID="{0B837632-1894-4FCA-90F6-D137D7BCD00B}" presName="composite" presStyleCnt="0"/>
      <dgm:spPr/>
    </dgm:pt>
    <dgm:pt modelId="{A6AC1F14-A500-47A1-BFCF-540BB4584AA2}" type="pres">
      <dgm:prSet presAssocID="{0B837632-1894-4FCA-90F6-D137D7BCD00B}" presName="Child" presStyleLbl="revTx" presStyleIdx="5" presStyleCnt="6" custLinFactNeighborX="-3932" custLinFactNeighborY="56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EF4AC2C-D222-438C-98F5-C7F9A114E75C}" srcId="{EADDEF84-465A-469B-AE12-CF1AF660680F}" destId="{DD3983B2-CCE0-4C40-B5B5-557650AF362A}" srcOrd="0" destOrd="0" parTransId="{8C59F8BF-A15C-43FD-B6C0-25F669DA6670}" sibTransId="{B6948A14-ED62-4587-AC2E-69D0808E0D01}"/>
    <dgm:cxn modelId="{8E1A0694-CA78-40F9-9C7A-412DD05A614B}" type="presOf" srcId="{8747652F-4181-4A3D-8167-52FE7819723E}" destId="{A6AC1F14-A500-47A1-BFCF-540BB4584AA2}" srcOrd="0" destOrd="2" presId="urn:microsoft.com/office/officeart/2009/3/layout/PieProcess"/>
    <dgm:cxn modelId="{6DA5D5DA-1649-404F-B2B2-907950A7F47E}" srcId="{0B837632-1894-4FCA-90F6-D137D7BCD00B}" destId="{EDA5E44D-4390-4F2E-AAFF-015A725185FF}" srcOrd="0" destOrd="0" parTransId="{D3F99577-FE5B-4C54-A525-AB3E83E8A203}" sibTransId="{B8C173C7-3B93-41FD-8533-8B32B8EBB834}"/>
    <dgm:cxn modelId="{80C127A8-67A6-467A-AEFF-2228BD3096B5}" type="presOf" srcId="{4F87F431-1918-4E75-87CF-49CC509EC811}" destId="{A6AC1F14-A500-47A1-BFCF-540BB4584AA2}" srcOrd="0" destOrd="1" presId="urn:microsoft.com/office/officeart/2009/3/layout/PieProcess"/>
    <dgm:cxn modelId="{16857CA2-CCF6-4F31-9037-760E1469A80C}" srcId="{0B837632-1894-4FCA-90F6-D137D7BCD00B}" destId="{4F87F431-1918-4E75-87CF-49CC509EC811}" srcOrd="1" destOrd="0" parTransId="{EB8ECB99-7355-4EB1-8368-6E5D8BF9F958}" sibTransId="{854AD0E3-1876-408A-AFB9-BFB96C74F0FD}"/>
    <dgm:cxn modelId="{2362E513-41BA-4899-8DBB-8352666BD710}" srcId="{E4B776F7-E6CF-4D44-B6A7-634EE60D5BF0}" destId="{3FDEE9E7-42B9-42FD-8082-8FFF8CDAB00E}" srcOrd="0" destOrd="0" parTransId="{DBF1A505-7E75-468F-83A4-AC13F05C8D8B}" sibTransId="{9DE3237A-9672-491C-8A03-9B54313667BF}"/>
    <dgm:cxn modelId="{A58A79D4-F477-46E6-99EC-D121CD4B414B}" type="presOf" srcId="{DD3983B2-CCE0-4C40-B5B5-557650AF362A}" destId="{B7690194-DAEB-4E5B-AB7C-DB67A7ED3818}" srcOrd="0" destOrd="0" presId="urn:microsoft.com/office/officeart/2009/3/layout/PieProcess"/>
    <dgm:cxn modelId="{32614D8E-3DED-4BC4-A17F-BEF23FC9BE4B}" type="presOf" srcId="{0B837632-1894-4FCA-90F6-D137D7BCD00B}" destId="{AD0AB4B1-9B1B-4DF2-A437-8F568DA3FCC8}" srcOrd="0" destOrd="0" presId="urn:microsoft.com/office/officeart/2009/3/layout/PieProcess"/>
    <dgm:cxn modelId="{B1ADBD87-447D-41AC-8CFF-E693D58B32E6}" type="presOf" srcId="{EDA5E44D-4390-4F2E-AAFF-015A725185FF}" destId="{A6AC1F14-A500-47A1-BFCF-540BB4584AA2}" srcOrd="0" destOrd="0" presId="urn:microsoft.com/office/officeart/2009/3/layout/PieProcess"/>
    <dgm:cxn modelId="{C402C52E-7989-4903-843E-990C15691298}" srcId="{6E0D9D9C-8E55-44F1-BAA7-896C43AE16A9}" destId="{0B837632-1894-4FCA-90F6-D137D7BCD00B}" srcOrd="2" destOrd="0" parTransId="{20D10001-B8E7-4F89-863F-087F0FF6F470}" sibTransId="{7436620E-1753-407D-8FFA-57540BA6C617}"/>
    <dgm:cxn modelId="{131DEB93-161B-4087-8C72-352F1BA17847}" srcId="{6E0D9D9C-8E55-44F1-BAA7-896C43AE16A9}" destId="{EADDEF84-465A-469B-AE12-CF1AF660680F}" srcOrd="0" destOrd="0" parTransId="{8A39121B-119C-4022-AD2B-E8E4A7AF6027}" sibTransId="{FA694258-AEFB-4B23-B22F-AA02019ACF77}"/>
    <dgm:cxn modelId="{8B2E0162-C2D5-4AA5-BC5D-705A3C87CB2E}" srcId="{0B837632-1894-4FCA-90F6-D137D7BCD00B}" destId="{8747652F-4181-4A3D-8167-52FE7819723E}" srcOrd="2" destOrd="0" parTransId="{85B64BAE-F49A-4B9D-9FCA-01F27AC8C9CB}" sibTransId="{572F722B-5F29-4184-B660-068277EF4EB2}"/>
    <dgm:cxn modelId="{359A4468-0FB4-48C9-9150-0CFCD9926D9E}" type="presOf" srcId="{E4B776F7-E6CF-4D44-B6A7-634EE60D5BF0}" destId="{821D1612-9A0C-4470-8060-04AC6DFEA511}" srcOrd="0" destOrd="0" presId="urn:microsoft.com/office/officeart/2009/3/layout/PieProcess"/>
    <dgm:cxn modelId="{68C395D2-877B-4AB6-AE3F-2FE631F46E11}" type="presOf" srcId="{6E0D9D9C-8E55-44F1-BAA7-896C43AE16A9}" destId="{57ECA2FF-3C47-460F-BFF8-619EB498F40B}" srcOrd="0" destOrd="0" presId="urn:microsoft.com/office/officeart/2009/3/layout/PieProcess"/>
    <dgm:cxn modelId="{637F73CA-82DA-4FAD-B741-2A93B9777AE3}" type="presOf" srcId="{EADDEF84-465A-469B-AE12-CF1AF660680F}" destId="{382450F0-2E25-4A86-B3A0-3FD2B8F1F567}" srcOrd="0" destOrd="0" presId="urn:microsoft.com/office/officeart/2009/3/layout/PieProcess"/>
    <dgm:cxn modelId="{520278E8-0DEA-41F5-8043-E96C8F88A769}" type="presOf" srcId="{3FDEE9E7-42B9-42FD-8082-8FFF8CDAB00E}" destId="{9E76B566-1070-40F7-95F6-38CFF576C21E}" srcOrd="0" destOrd="0" presId="urn:microsoft.com/office/officeart/2009/3/layout/PieProcess"/>
    <dgm:cxn modelId="{822EBFC9-8EC3-4664-807F-763F37206EB0}" srcId="{6E0D9D9C-8E55-44F1-BAA7-896C43AE16A9}" destId="{E4B776F7-E6CF-4D44-B6A7-634EE60D5BF0}" srcOrd="1" destOrd="0" parTransId="{6E269B69-3A3E-403D-BA69-2D17944E6956}" sibTransId="{E31D8CD8-F53D-4FF9-9A29-4B73817B6CAB}"/>
    <dgm:cxn modelId="{AE1376D5-2ECB-4DB9-842C-4D15C1528F57}" type="presParOf" srcId="{57ECA2FF-3C47-460F-BFF8-619EB498F40B}" destId="{DEE2D638-0CC6-4C68-8664-2914F0C5F018}" srcOrd="0" destOrd="0" presId="urn:microsoft.com/office/officeart/2009/3/layout/PieProcess"/>
    <dgm:cxn modelId="{077996C6-5BAF-4921-8029-4BCFE07FC625}" type="presParOf" srcId="{DEE2D638-0CC6-4C68-8664-2914F0C5F018}" destId="{6EE121A7-30C2-4993-9520-69D196B0F348}" srcOrd="0" destOrd="0" presId="urn:microsoft.com/office/officeart/2009/3/layout/PieProcess"/>
    <dgm:cxn modelId="{FF50F25F-E4D6-4E35-95FE-6BC172648AFB}" type="presParOf" srcId="{DEE2D638-0CC6-4C68-8664-2914F0C5F018}" destId="{D3C2DA39-90B5-4714-A521-BDE75D520EA7}" srcOrd="1" destOrd="0" presId="urn:microsoft.com/office/officeart/2009/3/layout/PieProcess"/>
    <dgm:cxn modelId="{C8400594-9FF7-453C-9F51-EB223EAC5A57}" type="presParOf" srcId="{DEE2D638-0CC6-4C68-8664-2914F0C5F018}" destId="{382450F0-2E25-4A86-B3A0-3FD2B8F1F567}" srcOrd="2" destOrd="0" presId="urn:microsoft.com/office/officeart/2009/3/layout/PieProcess"/>
    <dgm:cxn modelId="{F521A966-233F-4984-AE8F-B1F750E58330}" type="presParOf" srcId="{57ECA2FF-3C47-460F-BFF8-619EB498F40B}" destId="{03ED16B1-9EE9-4D5A-96B3-964FFBCF2E66}" srcOrd="1" destOrd="0" presId="urn:microsoft.com/office/officeart/2009/3/layout/PieProcess"/>
    <dgm:cxn modelId="{C2DCD695-B516-40EA-AB09-6731AA15AA36}" type="presParOf" srcId="{57ECA2FF-3C47-460F-BFF8-619EB498F40B}" destId="{74E90077-DF8F-4177-A692-B3BB1B862391}" srcOrd="2" destOrd="0" presId="urn:microsoft.com/office/officeart/2009/3/layout/PieProcess"/>
    <dgm:cxn modelId="{5F371ABA-E222-44F1-AD81-BA44E6074A3B}" type="presParOf" srcId="{74E90077-DF8F-4177-A692-B3BB1B862391}" destId="{B7690194-DAEB-4E5B-AB7C-DB67A7ED3818}" srcOrd="0" destOrd="0" presId="urn:microsoft.com/office/officeart/2009/3/layout/PieProcess"/>
    <dgm:cxn modelId="{05C8F080-37C6-4A97-A6D3-480B71F48037}" type="presParOf" srcId="{57ECA2FF-3C47-460F-BFF8-619EB498F40B}" destId="{6E269D29-7759-4F08-A13E-55DFCB4BACA1}" srcOrd="3" destOrd="0" presId="urn:microsoft.com/office/officeart/2009/3/layout/PieProcess"/>
    <dgm:cxn modelId="{A92B6854-9B9A-4862-B3C8-E9C1746FF598}" type="presParOf" srcId="{57ECA2FF-3C47-460F-BFF8-619EB498F40B}" destId="{3F672099-C353-4898-9A36-AB7C90D9AA17}" srcOrd="4" destOrd="0" presId="urn:microsoft.com/office/officeart/2009/3/layout/PieProcess"/>
    <dgm:cxn modelId="{51A6711D-7DBD-4889-8D67-3E590E3BD915}" type="presParOf" srcId="{3F672099-C353-4898-9A36-AB7C90D9AA17}" destId="{30EAA591-B7CD-4A8B-BD22-626870803BC0}" srcOrd="0" destOrd="0" presId="urn:microsoft.com/office/officeart/2009/3/layout/PieProcess"/>
    <dgm:cxn modelId="{B72C567E-069C-44EC-8838-EC19DC7E2FEA}" type="presParOf" srcId="{3F672099-C353-4898-9A36-AB7C90D9AA17}" destId="{F568569A-B650-407A-BCB5-DE1BA238882C}" srcOrd="1" destOrd="0" presId="urn:microsoft.com/office/officeart/2009/3/layout/PieProcess"/>
    <dgm:cxn modelId="{9CA8B75A-9790-46A2-B7EB-6E0B34181595}" type="presParOf" srcId="{3F672099-C353-4898-9A36-AB7C90D9AA17}" destId="{821D1612-9A0C-4470-8060-04AC6DFEA511}" srcOrd="2" destOrd="0" presId="urn:microsoft.com/office/officeart/2009/3/layout/PieProcess"/>
    <dgm:cxn modelId="{0C798F6D-E54A-4639-A8FE-C2A7081B4868}" type="presParOf" srcId="{57ECA2FF-3C47-460F-BFF8-619EB498F40B}" destId="{F9F284C5-9B1A-4D32-8F09-8E29F7A16888}" srcOrd="5" destOrd="0" presId="urn:microsoft.com/office/officeart/2009/3/layout/PieProcess"/>
    <dgm:cxn modelId="{81BD24EA-1304-46A2-B105-4BDC31EFD201}" type="presParOf" srcId="{57ECA2FF-3C47-460F-BFF8-619EB498F40B}" destId="{AEEA4261-22EB-45F2-A132-773ED9E11623}" srcOrd="6" destOrd="0" presId="urn:microsoft.com/office/officeart/2009/3/layout/PieProcess"/>
    <dgm:cxn modelId="{3D5B44C2-56BB-4F09-BC00-3C1930436E00}" type="presParOf" srcId="{AEEA4261-22EB-45F2-A132-773ED9E11623}" destId="{9E76B566-1070-40F7-95F6-38CFF576C21E}" srcOrd="0" destOrd="0" presId="urn:microsoft.com/office/officeart/2009/3/layout/PieProcess"/>
    <dgm:cxn modelId="{E7815A61-1F90-4AB6-96D1-34B0AA794D77}" type="presParOf" srcId="{57ECA2FF-3C47-460F-BFF8-619EB498F40B}" destId="{9CD06ED8-E8A2-470E-A8FD-904E03969012}" srcOrd="7" destOrd="0" presId="urn:microsoft.com/office/officeart/2009/3/layout/PieProcess"/>
    <dgm:cxn modelId="{FD18623B-FF24-4E1F-857C-D71690F5256C}" type="presParOf" srcId="{57ECA2FF-3C47-460F-BFF8-619EB498F40B}" destId="{A3994565-7A0F-430B-9FEF-F7D6427747E9}" srcOrd="8" destOrd="0" presId="urn:microsoft.com/office/officeart/2009/3/layout/PieProcess"/>
    <dgm:cxn modelId="{D5B39A9A-A0EC-4C6C-B623-2CC734B25F66}" type="presParOf" srcId="{A3994565-7A0F-430B-9FEF-F7D6427747E9}" destId="{51A5445F-4E32-471F-849F-F50444087DA5}" srcOrd="0" destOrd="0" presId="urn:microsoft.com/office/officeart/2009/3/layout/PieProcess"/>
    <dgm:cxn modelId="{672864F9-18AE-4170-9820-9FB55022DFA6}" type="presParOf" srcId="{A3994565-7A0F-430B-9FEF-F7D6427747E9}" destId="{A93232D6-090A-4D2A-A6A6-76A003C87711}" srcOrd="1" destOrd="0" presId="urn:microsoft.com/office/officeart/2009/3/layout/PieProcess"/>
    <dgm:cxn modelId="{AC0B696D-00F0-405E-8C2C-A398AB4880B3}" type="presParOf" srcId="{A3994565-7A0F-430B-9FEF-F7D6427747E9}" destId="{AD0AB4B1-9B1B-4DF2-A437-8F568DA3FCC8}" srcOrd="2" destOrd="0" presId="urn:microsoft.com/office/officeart/2009/3/layout/PieProcess"/>
    <dgm:cxn modelId="{EC69CF46-7BE9-4353-BBEA-3CB096CD1E7F}" type="presParOf" srcId="{57ECA2FF-3C47-460F-BFF8-619EB498F40B}" destId="{3587D008-F0EA-4B61-8DA3-8235CFA589F5}" srcOrd="9" destOrd="0" presId="urn:microsoft.com/office/officeart/2009/3/layout/PieProcess"/>
    <dgm:cxn modelId="{DA4F6269-EBF5-46D2-B568-B4D67BB83AE0}" type="presParOf" srcId="{57ECA2FF-3C47-460F-BFF8-619EB498F40B}" destId="{E9ED8854-AB70-47FC-B715-6D94830D4252}" srcOrd="10" destOrd="0" presId="urn:microsoft.com/office/officeart/2009/3/layout/PieProcess"/>
    <dgm:cxn modelId="{1982F4E9-B129-4370-B6EE-9D87B508D648}" type="presParOf" srcId="{E9ED8854-AB70-47FC-B715-6D94830D4252}" destId="{A6AC1F14-A500-47A1-BFCF-540BB4584AA2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3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4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69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34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9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8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4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52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3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F2F16-918E-4A56-873E-3C1E4DC8C412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4E39C-7838-4BC6-A6F2-CAB2A4D90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27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share/69d8abd1-0b6c-832f-b3b3-5c229df1980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taimoor0078/Programming-20054191-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8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microsoft.com/office/2007/relationships/hdphoto" Target="../media/hdphoto1.wdp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47;p36"/>
          <p:cNvGrpSpPr/>
          <p:nvPr/>
        </p:nvGrpSpPr>
        <p:grpSpPr>
          <a:xfrm>
            <a:off x="8171998" y="-552449"/>
            <a:ext cx="5366813" cy="8258174"/>
            <a:chOff x="5114880" y="-428760"/>
            <a:chExt cx="4275360" cy="6450480"/>
          </a:xfrm>
        </p:grpSpPr>
        <p:sp>
          <p:nvSpPr>
            <p:cNvPr id="5" name="Google Shape;348;p36"/>
            <p:cNvSpPr/>
            <p:nvPr/>
          </p:nvSpPr>
          <p:spPr>
            <a:xfrm rot="10800000" flipH="1">
              <a:off x="8492040" y="-192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349;p36"/>
            <p:cNvSpPr/>
            <p:nvPr/>
          </p:nvSpPr>
          <p:spPr>
            <a:xfrm>
              <a:off x="8551800" y="3267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350;p36"/>
            <p:cNvSpPr/>
            <p:nvPr/>
          </p:nvSpPr>
          <p:spPr>
            <a:xfrm>
              <a:off x="660672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351;p36"/>
            <p:cNvSpPr/>
            <p:nvPr/>
          </p:nvSpPr>
          <p:spPr>
            <a:xfrm>
              <a:off x="71035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352;p36"/>
            <p:cNvSpPr/>
            <p:nvPr/>
          </p:nvSpPr>
          <p:spPr>
            <a:xfrm>
              <a:off x="66841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353;p36"/>
            <p:cNvSpPr/>
            <p:nvPr/>
          </p:nvSpPr>
          <p:spPr>
            <a:xfrm>
              <a:off x="610992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354;p36"/>
            <p:cNvSpPr/>
            <p:nvPr/>
          </p:nvSpPr>
          <p:spPr>
            <a:xfrm>
              <a:off x="6109920" y="697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355;p36"/>
            <p:cNvSpPr/>
            <p:nvPr/>
          </p:nvSpPr>
          <p:spPr>
            <a:xfrm>
              <a:off x="758736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356;p36"/>
            <p:cNvSpPr/>
            <p:nvPr/>
          </p:nvSpPr>
          <p:spPr>
            <a:xfrm>
              <a:off x="563400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357;p36"/>
            <p:cNvSpPr/>
            <p:nvPr/>
          </p:nvSpPr>
          <p:spPr>
            <a:xfrm>
              <a:off x="701784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358;p36"/>
            <p:cNvSpPr/>
            <p:nvPr/>
          </p:nvSpPr>
          <p:spPr>
            <a:xfrm>
              <a:off x="5193720" y="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359;p36"/>
            <p:cNvSpPr/>
            <p:nvPr/>
          </p:nvSpPr>
          <p:spPr>
            <a:xfrm>
              <a:off x="8069040" y="1622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360;p36"/>
            <p:cNvSpPr/>
            <p:nvPr/>
          </p:nvSpPr>
          <p:spPr>
            <a:xfrm rot="10800000" flipH="1">
              <a:off x="5114880" y="3656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361;p36"/>
            <p:cNvSpPr/>
            <p:nvPr/>
          </p:nvSpPr>
          <p:spPr>
            <a:xfrm rot="10800000" flipH="1">
              <a:off x="6606360" y="3925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362;p36"/>
            <p:cNvSpPr/>
            <p:nvPr/>
          </p:nvSpPr>
          <p:spPr>
            <a:xfrm rot="10800000" flipH="1">
              <a:off x="5983560" y="5054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63;p36"/>
            <p:cNvSpPr/>
            <p:nvPr/>
          </p:nvSpPr>
          <p:spPr>
            <a:xfrm rot="10800000" flipH="1">
              <a:off x="7178400" y="3533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64;p36"/>
            <p:cNvSpPr/>
            <p:nvPr/>
          </p:nvSpPr>
          <p:spPr>
            <a:xfrm rot="10800000" flipH="1">
              <a:off x="6606360" y="4609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65;p36"/>
            <p:cNvSpPr/>
            <p:nvPr/>
          </p:nvSpPr>
          <p:spPr>
            <a:xfrm rot="10800000" flipH="1">
              <a:off x="5526000" y="4128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66;p36"/>
            <p:cNvSpPr/>
            <p:nvPr/>
          </p:nvSpPr>
          <p:spPr>
            <a:xfrm>
              <a:off x="8117280" y="2852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67;p36"/>
            <p:cNvSpPr/>
            <p:nvPr/>
          </p:nvSpPr>
          <p:spPr>
            <a:xfrm>
              <a:off x="8172720" y="3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5" name="PlaceHolder 1"/>
          <p:cNvSpPr txBox="1">
            <a:spLocks/>
          </p:cNvSpPr>
          <p:nvPr/>
        </p:nvSpPr>
        <p:spPr>
          <a:xfrm>
            <a:off x="-371517" y="1188661"/>
            <a:ext cx="10160202" cy="18797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91440" rIns="91440" bIns="9144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MULTI-SOURCE VIDEO GAME POPULARITY ANALYSIS USING STEAM PLAYER DATA AND GOOGLE TRENDS</a:t>
            </a:r>
            <a:endParaRPr lang="fr-FR" sz="36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1947552" y="3068401"/>
            <a:ext cx="5700114" cy="29676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60000"/>
              </a:lnSpc>
              <a:buNone/>
              <a:tabLst>
                <a:tab pos="0" algn="l"/>
              </a:tabLst>
            </a:pPr>
            <a:r>
              <a:rPr lang="en-US" sz="2400" dirty="0" smtClean="0">
                <a:solidFill>
                  <a:schemeClr val="dk1"/>
                </a:solidFill>
                <a:latin typeface="DM Sans"/>
              </a:rPr>
              <a:t>by</a:t>
            </a:r>
          </a:p>
          <a:p>
            <a:pPr indent="0">
              <a:lnSpc>
                <a:spcPct val="160000"/>
              </a:lnSpc>
              <a:buNone/>
              <a:tabLst>
                <a:tab pos="0" algn="l"/>
              </a:tabLst>
            </a:pPr>
            <a:r>
              <a:rPr lang="en-US" sz="2400" b="0" u="none" strike="noStrike" dirty="0" err="1" smtClean="0">
                <a:solidFill>
                  <a:schemeClr val="dk1"/>
                </a:solidFill>
                <a:effectLst/>
                <a:uFillTx/>
                <a:latin typeface="DM Sans"/>
              </a:rPr>
              <a:t>Std</a:t>
            </a:r>
            <a:r>
              <a:rPr lang="en-US" sz="2400" b="0" u="none" strike="noStrike" dirty="0" smtClean="0">
                <a:solidFill>
                  <a:schemeClr val="dk1"/>
                </a:solidFill>
                <a:effectLst/>
                <a:uFillTx/>
                <a:latin typeface="DM Sans"/>
              </a:rPr>
              <a:t> Name: </a:t>
            </a:r>
            <a:r>
              <a:rPr lang="en-US" sz="2400" b="1" u="none" strike="noStrike" dirty="0" smtClean="0">
                <a:solidFill>
                  <a:schemeClr val="dk1"/>
                </a:solidFill>
                <a:effectLst/>
                <a:uFillTx/>
                <a:latin typeface="DM Sans"/>
              </a:rPr>
              <a:t>TAIMOOR AHMAD</a:t>
            </a:r>
          </a:p>
          <a:p>
            <a:pPr indent="0">
              <a:lnSpc>
                <a:spcPct val="160000"/>
              </a:lnSpc>
              <a:buNone/>
              <a:tabLst>
                <a:tab pos="0" algn="l"/>
              </a:tabLst>
            </a:pPr>
            <a:r>
              <a:rPr lang="en-US" sz="2400" dirty="0" err="1" smtClean="0">
                <a:solidFill>
                  <a:schemeClr val="dk1"/>
                </a:solidFill>
                <a:latin typeface="DM Sans"/>
              </a:rPr>
              <a:t>Std</a:t>
            </a:r>
            <a:r>
              <a:rPr lang="en-US" sz="2400" dirty="0" smtClean="0">
                <a:solidFill>
                  <a:schemeClr val="dk1"/>
                </a:solidFill>
                <a:latin typeface="DM Sans"/>
              </a:rPr>
              <a:t> Number: </a:t>
            </a:r>
            <a:r>
              <a:rPr lang="en-US" sz="2400" b="1" dirty="0" smtClean="0">
                <a:solidFill>
                  <a:schemeClr val="dk1"/>
                </a:solidFill>
                <a:latin typeface="DM Sans"/>
              </a:rPr>
              <a:t>20054191</a:t>
            </a:r>
          </a:p>
          <a:p>
            <a:pPr indent="0">
              <a:lnSpc>
                <a:spcPct val="160000"/>
              </a:lnSpc>
              <a:buNone/>
              <a:tabLst>
                <a:tab pos="0" algn="l"/>
              </a:tabLst>
            </a:pPr>
            <a:r>
              <a:rPr lang="en-US" sz="2400" b="0" u="none" strike="noStrike" dirty="0" smtClean="0">
                <a:solidFill>
                  <a:schemeClr val="dk1"/>
                </a:solidFill>
                <a:effectLst/>
                <a:uFillTx/>
                <a:latin typeface="DM Sans"/>
              </a:rPr>
              <a:t>Submitted To: </a:t>
            </a:r>
            <a:r>
              <a:rPr lang="en-US" sz="2400" b="1" u="none" strike="noStrike" dirty="0" smtClean="0">
                <a:solidFill>
                  <a:schemeClr val="dk1"/>
                </a:solidFill>
                <a:effectLst/>
                <a:uFillTx/>
                <a:latin typeface="DM Sans"/>
              </a:rPr>
              <a:t>PAUL LARID</a:t>
            </a:r>
          </a:p>
          <a:p>
            <a:pPr indent="0">
              <a:lnSpc>
                <a:spcPct val="160000"/>
              </a:lnSpc>
              <a:buNone/>
              <a:tabLst>
                <a:tab pos="0" algn="l"/>
              </a:tabLst>
            </a:pP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2921914" y="1148561"/>
            <a:ext cx="3340833" cy="0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26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PROJECT OBJECTIVES</a:t>
            </a:r>
            <a:endParaRPr lang="en-US" sz="2800" b="1" dirty="0">
              <a:solidFill>
                <a:schemeClr val="accent5">
                  <a:lumMod val="7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3101"/>
            <a:ext cx="10515600" cy="435133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analyze video game popularity</a:t>
            </a:r>
          </a:p>
          <a:p>
            <a:pPr marL="285750" indent="-285750">
              <a:lnSpc>
                <a:spcPct val="150000"/>
              </a:lnSpc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transform raw gaming data into meaningful insights using feature engineering techniques.</a:t>
            </a:r>
          </a:p>
          <a:p>
            <a:endParaRPr lang="en-US" sz="1600" dirty="0"/>
          </a:p>
        </p:txBody>
      </p:sp>
      <p:sp>
        <p:nvSpPr>
          <p:cNvPr id="4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05522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ARCHITECTURE OF THE PROJECT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25697" r="2514" b="23699"/>
          <a:stretch/>
        </p:blipFill>
        <p:spPr>
          <a:xfrm>
            <a:off x="156754" y="1384664"/>
            <a:ext cx="11512731" cy="5094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838200" y="6544770"/>
            <a:ext cx="3873175" cy="21544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" cap="none" spc="0" dirty="0" smtClean="0">
                <a:ln w="0"/>
                <a:solidFill>
                  <a:schemeClr val="tx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Declaration: </a:t>
            </a:r>
            <a:r>
              <a:rPr lang="en-US" sz="800" cap="none" spc="0" dirty="0" smtClean="0">
                <a:ln w="0"/>
                <a:solidFill>
                  <a:schemeClr val="tx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https://chatgpt.com/share/69d8abd1-0b6c-832f-b3b3-5c229df19805</a:t>
            </a:r>
            <a:r>
              <a:rPr lang="en-US" sz="800" cap="none" spc="0" dirty="0" smtClean="0">
                <a:ln w="0"/>
                <a:solidFill>
                  <a:schemeClr val="tx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800" cap="none" spc="0" dirty="0">
              <a:ln w="0"/>
              <a:solidFill>
                <a:schemeClr val="tx2">
                  <a:lumMod val="2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43792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 PUBLIC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0619"/>
            <a:ext cx="10515600" cy="440316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 of the Repository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https://github.com/taimoor0078/Programming-20054191-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lvl="1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Overview of the Repository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7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572" y="2135853"/>
            <a:ext cx="6656632" cy="4722146"/>
          </a:xfrm>
          <a:prstGeom prst="rect">
            <a:avLst/>
          </a:prstGeom>
        </p:spPr>
      </p:pic>
      <p:sp>
        <p:nvSpPr>
          <p:cNvPr id="8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970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3770"/>
            <a:ext cx="10515600" cy="569422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Sources of the data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Steam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https://store.steampowered.com/api/appdetails?appids=%7Bappid%7D&amp;cc=us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Steam Charts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https://steamcharts.com/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Google Trends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did data acquire?</a:t>
            </a:r>
          </a:p>
          <a:p>
            <a:pPr marL="685800" lvl="2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public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 steam store and access data of multiple games using games id</a:t>
            </a:r>
          </a:p>
          <a:p>
            <a:pPr marL="1143000" lvl="3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appid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price, discount,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initial_price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total_reviews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positive_reviews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negative_reviews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is_free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lvl="2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Scrape data from Steam charts using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BeautifulSoap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0" lvl="3">
              <a:lnSpc>
                <a:spcPct val="150000"/>
              </a:lnSpc>
              <a:spcBef>
                <a:spcPts val="0"/>
              </a:spcBef>
            </a:pP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avg_players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peak_players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lvl="2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trends of google using </a:t>
            </a: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pytrend</a:t>
            </a: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0" lvl="3">
              <a:lnSpc>
                <a:spcPct val="150000"/>
              </a:lnSpc>
              <a:spcBef>
                <a:spcPts val="0"/>
              </a:spcBef>
            </a:pPr>
            <a:r>
              <a:rPr lang="en-US" sz="16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interest_over_time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</a:t>
            </a:r>
          </a:p>
          <a:p>
            <a:pPr marL="228600" lvl="1"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Ethical Consideration of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</a:t>
            </a:r>
          </a:p>
          <a:p>
            <a:pPr marL="1143000" lvl="3">
              <a:lnSpc>
                <a:spcPct val="16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Data availability </a:t>
            </a:r>
          </a:p>
          <a:p>
            <a:pPr marL="1143000" lvl="3">
              <a:lnSpc>
                <a:spcPct val="16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sensitive data involve </a:t>
            </a:r>
          </a:p>
          <a:p>
            <a:pPr marL="685800" lvl="2">
              <a:lnSpc>
                <a:spcPct val="150000"/>
              </a:lnSpc>
              <a:spcBef>
                <a:spcPts val="0"/>
              </a:spcBef>
            </a:pP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51;p36"/>
          <p:cNvSpPr/>
          <p:nvPr/>
        </p:nvSpPr>
        <p:spPr>
          <a:xfrm>
            <a:off x="-204117" y="5268564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508197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CLEANING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776400"/>
              </p:ext>
            </p:extLst>
          </p:nvPr>
        </p:nvGraphicFramePr>
        <p:xfrm>
          <a:off x="89263" y="793523"/>
          <a:ext cx="10515600" cy="5383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r="6551"/>
          <a:stretch/>
        </p:blipFill>
        <p:spPr>
          <a:xfrm>
            <a:off x="838200" y="2086137"/>
            <a:ext cx="2647950" cy="3213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5685" b="18461"/>
          <a:stretch/>
        </p:blipFill>
        <p:spPr>
          <a:xfrm>
            <a:off x="4532811" y="2956815"/>
            <a:ext cx="3126377" cy="6139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383471" y="1023251"/>
            <a:ext cx="1514442" cy="236002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34357" y="5299163"/>
            <a:ext cx="2429692" cy="15588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402893" y="3428061"/>
            <a:ext cx="1475598" cy="202288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364049" y="5450942"/>
            <a:ext cx="1618945" cy="1398972"/>
          </a:xfrm>
          <a:prstGeom prst="rect">
            <a:avLst/>
          </a:prstGeom>
        </p:spPr>
      </p:pic>
      <p:sp>
        <p:nvSpPr>
          <p:cNvPr id="15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38577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6616"/>
            <a:ext cx="10515600" cy="56213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Popularity Score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.5 * (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Avg_Players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+ .3 * (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Google_Trends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+ .2 * 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Total_Reviews</a:t>
            </a:r>
            <a:endParaRPr lang="en-US" sz="1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Popularity Level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 = Popularity Score &lt;=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33 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Medium = 33 &lt; Popularity Score &lt;= 66 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= Popularity Score &gt; 66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Game Over Time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if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Player &gt; 80 Percentile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Need Discount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True if : Discount = 0 AND Player Growth (% in change in Player Growth) &lt; 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Engagement Ratio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Peak Players/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Players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Community Sentiments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 Reviews / (Positive + Negative Reviews)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Player Momentum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7-Days Moving Players - 30 Days Moving Players</a:t>
            </a:r>
          </a:p>
          <a:p>
            <a:endParaRPr lang="en-US" sz="1600" dirty="0"/>
          </a:p>
        </p:txBody>
      </p:sp>
      <p:sp>
        <p:nvSpPr>
          <p:cNvPr id="4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483739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9898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Converted date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Month:  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final_Dataset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['date'].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dt.month</a:t>
            </a:r>
            <a:endParaRPr lang="en-US" sz="1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Year:   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final_Dataset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['date'].</a:t>
            </a: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dt.year</a:t>
            </a:r>
            <a:endParaRPr lang="en-US" sz="1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4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Encoded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Popularity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cat.codes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because it is a categorical variable low, medium and high that gave wrong value using Label 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encoding. 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b="17160"/>
          <a:stretch/>
        </p:blipFill>
        <p:spPr>
          <a:xfrm>
            <a:off x="3263204" y="4284878"/>
            <a:ext cx="5665592" cy="8183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r="88304" b="49853"/>
          <a:stretch/>
        </p:blipFill>
        <p:spPr>
          <a:xfrm>
            <a:off x="8950550" y="4206267"/>
            <a:ext cx="1065604" cy="23861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r="17980" b="38088"/>
          <a:stretch/>
        </p:blipFill>
        <p:spPr>
          <a:xfrm>
            <a:off x="5184469" y="1254213"/>
            <a:ext cx="1564674" cy="24208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81903" b="49339"/>
          <a:stretch/>
        </p:blipFill>
        <p:spPr>
          <a:xfrm>
            <a:off x="10016045" y="4206267"/>
            <a:ext cx="1277775" cy="2386148"/>
          </a:xfrm>
          <a:prstGeom prst="rect">
            <a:avLst/>
          </a:prstGeom>
        </p:spPr>
      </p:pic>
      <p:sp>
        <p:nvSpPr>
          <p:cNvPr id="13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013108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2743"/>
            <a:ext cx="10515600" cy="536448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Applied cat codes to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Bool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variables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Dropped some numeric columns because there were no need to scale them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Applied Standard Scaling to remaining numeric columns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Dropped unnecessary columns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944" r="4504"/>
          <a:stretch/>
        </p:blipFill>
        <p:spPr>
          <a:xfrm>
            <a:off x="1165868" y="1991609"/>
            <a:ext cx="6913856" cy="3838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8" y="2794512"/>
            <a:ext cx="6041884" cy="3218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68" y="3508717"/>
            <a:ext cx="6041884" cy="505294"/>
          </a:xfrm>
          <a:prstGeom prst="rect">
            <a:avLst/>
          </a:prstGeom>
        </p:spPr>
      </p:pic>
      <p:sp>
        <p:nvSpPr>
          <p:cNvPr id="7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52352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LOOK OF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7908"/>
            <a:ext cx="10515600" cy="547769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227908"/>
            <a:ext cx="4987834" cy="54776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046" y="1628504"/>
            <a:ext cx="4892520" cy="17330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566" y="1690688"/>
            <a:ext cx="3096120" cy="1435689"/>
          </a:xfrm>
          <a:prstGeom prst="rect">
            <a:avLst/>
          </a:prstGeom>
        </p:spPr>
      </p:pic>
      <p:sp>
        <p:nvSpPr>
          <p:cNvPr id="10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723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9234"/>
            <a:ext cx="10515600" cy="5528766"/>
          </a:xfrm>
        </p:spPr>
        <p:txBody>
          <a:bodyPr>
            <a:normAutofit/>
          </a:bodyPr>
          <a:lstStyle/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Mongo DB</a:t>
            </a:r>
          </a:p>
          <a:p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16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SQLite</a:t>
            </a:r>
          </a:p>
          <a:p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use Hybrid Database</a:t>
            </a:r>
          </a:p>
          <a:p>
            <a:pPr lvl="1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Implemented both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NoSQL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relational storage for flexibility and structured 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querying</a:t>
            </a:r>
            <a:endParaRPr lang="en-US" sz="1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7464"/>
          <a:stretch/>
        </p:blipFill>
        <p:spPr>
          <a:xfrm>
            <a:off x="2857500" y="1485781"/>
            <a:ext cx="6115050" cy="17891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0" y="3355185"/>
            <a:ext cx="3075297" cy="3478252"/>
          </a:xfrm>
          <a:prstGeom prst="rect">
            <a:avLst/>
          </a:prstGeom>
        </p:spPr>
      </p:pic>
      <p:sp>
        <p:nvSpPr>
          <p:cNvPr id="10" name="Google Shape;356;p36"/>
          <p:cNvSpPr/>
          <p:nvPr/>
        </p:nvSpPr>
        <p:spPr>
          <a:xfrm rot="704743">
            <a:off x="67182" y="-596748"/>
            <a:ext cx="1104316" cy="1289358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8;p36"/>
          <p:cNvSpPr/>
          <p:nvPr/>
        </p:nvSpPr>
        <p:spPr>
          <a:xfrm rot="704743">
            <a:off x="-485497" y="-47832"/>
            <a:ext cx="1104316" cy="1289358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351;p36"/>
          <p:cNvSpPr/>
          <p:nvPr/>
        </p:nvSpPr>
        <p:spPr>
          <a:xfrm rot="973027">
            <a:off x="-13951" y="5325364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Google Shape;352;p36"/>
          <p:cNvSpPr/>
          <p:nvPr/>
        </p:nvSpPr>
        <p:spPr>
          <a:xfrm rot="973027">
            <a:off x="-540419" y="5929586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43529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TESTING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4925"/>
            <a:ext cx="10515600" cy="48720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 Testing</a:t>
            </a:r>
          </a:p>
          <a:p>
            <a:pPr marL="685800" lvl="2">
              <a:spcBef>
                <a:spcPts val="1000"/>
              </a:spcBef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test_feature_engineering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(self)</a:t>
            </a:r>
          </a:p>
          <a:p>
            <a:pPr marL="685800" lvl="2">
              <a:spcBef>
                <a:spcPts val="1000"/>
              </a:spcBef>
            </a:pPr>
            <a:r>
              <a:rPr lang="en-US" sz="14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test_encoding</a:t>
            </a:r>
            <a:r>
              <a:rPr lang="en-US" sz="14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(self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685800" lvl="2">
              <a:spcBef>
                <a:spcPts val="1000"/>
              </a:spcBef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test_scaling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(self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Testing</a:t>
            </a:r>
          </a:p>
          <a:p>
            <a:pPr marL="685800" lvl="2">
              <a:spcBef>
                <a:spcPts val="1000"/>
              </a:spcBef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test_full_pipeline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(self)</a:t>
            </a:r>
          </a:p>
          <a:p>
            <a:pPr marL="685800" lvl="2">
              <a:spcBef>
                <a:spcPts val="1000"/>
              </a:spcBef>
            </a:pP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test_full_pipeline_noerror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(self)</a:t>
            </a:r>
          </a:p>
          <a:p>
            <a:pPr marL="228600" lvl="1">
              <a:spcBef>
                <a:spcPts val="1000"/>
              </a:spcBef>
            </a:pP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69" y="2240083"/>
            <a:ext cx="4854361" cy="4549534"/>
          </a:xfrm>
          <a:prstGeom prst="rect">
            <a:avLst/>
          </a:prstGeom>
        </p:spPr>
      </p:pic>
      <p:sp>
        <p:nvSpPr>
          <p:cNvPr id="5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20646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INSIGHTS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58930"/>
            <a:ext cx="6610350" cy="42322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7303" b="1831"/>
          <a:stretch/>
        </p:blipFill>
        <p:spPr>
          <a:xfrm>
            <a:off x="6124575" y="1539881"/>
            <a:ext cx="6067425" cy="4232270"/>
          </a:xfrm>
          <a:prstGeom prst="rect">
            <a:avLst/>
          </a:prstGeom>
        </p:spPr>
      </p:pic>
      <p:sp>
        <p:nvSpPr>
          <p:cNvPr id="6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79549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COMPLEXITY OF THE PROJECT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6985"/>
            <a:ext cx="10515600" cy="435133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Collecting data from multiple resources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 feature engineering including a weighted popularity score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Full preprocessing pipeline with cat codes and scaling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Hybrid database design using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MongoDB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SQLite</a:t>
            </a:r>
          </a:p>
        </p:txBody>
      </p:sp>
    </p:spTree>
    <p:extLst>
      <p:ext uri="{BB962C8B-B14F-4D97-AF65-F5344CB8AC3E}">
        <p14:creationId xmlns:p14="http://schemas.microsoft.com/office/powerpoint/2010/main" val="55793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41" r="8017" b="2320"/>
          <a:stretch/>
        </p:blipFill>
        <p:spPr>
          <a:xfrm>
            <a:off x="0" y="1457325"/>
            <a:ext cx="6143625" cy="41338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289" r="3452"/>
          <a:stretch/>
        </p:blipFill>
        <p:spPr>
          <a:xfrm>
            <a:off x="6143625" y="1754817"/>
            <a:ext cx="6048375" cy="3772227"/>
          </a:xfrm>
          <a:prstGeom prst="rect">
            <a:avLst/>
          </a:prstGeom>
        </p:spPr>
      </p:pic>
      <p:sp>
        <p:nvSpPr>
          <p:cNvPr id="6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28167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56;p36"/>
          <p:cNvSpPr/>
          <p:nvPr/>
        </p:nvSpPr>
        <p:spPr>
          <a:xfrm>
            <a:off x="213044" y="-452929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Google Shape;358;p36"/>
          <p:cNvSpPr/>
          <p:nvPr/>
        </p:nvSpPr>
        <p:spPr>
          <a:xfrm>
            <a:off x="-339635" y="9598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Google Shape;350;p36"/>
          <p:cNvSpPr/>
          <p:nvPr/>
        </p:nvSpPr>
        <p:spPr>
          <a:xfrm>
            <a:off x="11353800" y="6156857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357;p36"/>
          <p:cNvSpPr/>
          <p:nvPr/>
        </p:nvSpPr>
        <p:spPr>
          <a:xfrm>
            <a:off x="11869874" y="55521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349;p36"/>
          <p:cNvSpPr/>
          <p:nvPr/>
        </p:nvSpPr>
        <p:spPr>
          <a:xfrm>
            <a:off x="11684962" y="-78858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366;p36"/>
          <p:cNvSpPr/>
          <p:nvPr/>
        </p:nvSpPr>
        <p:spPr>
          <a:xfrm>
            <a:off x="11139514" y="-610722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351;p36"/>
          <p:cNvSpPr/>
          <p:nvPr/>
        </p:nvSpPr>
        <p:spPr>
          <a:xfrm>
            <a:off x="0" y="5353551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" name="Google Shape;352;p36"/>
          <p:cNvSpPr/>
          <p:nvPr/>
        </p:nvSpPr>
        <p:spPr>
          <a:xfrm>
            <a:off x="-526468" y="5957773"/>
            <a:ext cx="1052485" cy="1238864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445059" y="2330585"/>
            <a:ext cx="796168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0" b="1" dirty="0" smtClean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YOU!</a:t>
            </a:r>
            <a:endParaRPr lang="fr-FR" sz="88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041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461</Words>
  <Application>Microsoft Office PowerPoint</Application>
  <PresentationFormat>Widescreen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DM Sans</vt:lpstr>
      <vt:lpstr>OpenSymbol</vt:lpstr>
      <vt:lpstr>Tahoma</vt:lpstr>
      <vt:lpstr>Office Theme</vt:lpstr>
      <vt:lpstr>PowerPoint Presentation</vt:lpstr>
      <vt:lpstr>PROJECT OBJECTIVES</vt:lpstr>
      <vt:lpstr>ARCHITECTURE OF THE PROJECT</vt:lpstr>
      <vt:lpstr>GIT PUBLIC REPOSITORY</vt:lpstr>
      <vt:lpstr>DATA ACQUISITION</vt:lpstr>
      <vt:lpstr>DATA CLEANING</vt:lpstr>
      <vt:lpstr>FEATURE ENGINEERING</vt:lpstr>
      <vt:lpstr>DATA PREPROCESSING</vt:lpstr>
      <vt:lpstr>CONTI.</vt:lpstr>
      <vt:lpstr>FINAL LOOK OF DATASET</vt:lpstr>
      <vt:lpstr>DATABASE</vt:lpstr>
      <vt:lpstr>TESTING OF THE SYSTEM</vt:lpstr>
      <vt:lpstr>DATA INSIGHTS</vt:lpstr>
      <vt:lpstr>COMPLEXITY OF THE PROJECT</vt:lpstr>
      <vt:lpstr>CONTI.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20</cp:revision>
  <dcterms:created xsi:type="dcterms:W3CDTF">2026-04-13T13:37:22Z</dcterms:created>
  <dcterms:modified xsi:type="dcterms:W3CDTF">2026-04-13T20:21:01Z</dcterms:modified>
</cp:coreProperties>
</file>